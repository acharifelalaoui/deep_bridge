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8046720" y="0"/>
            <a:ext cx="4206240" cy="6858000"/>
          </a:xfrm>
          <a:prstGeom prst="rtTriangle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Calibri"/>
              </a:defRPr>
            </a:pPr>
            <a:r>
              <a:t>Deep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73152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Presentation Projet</a:t>
            </a:r>
            <a:br/>
            <a:r>
              <a:t>Visualisation DICOM et stenose carotidienne</a:t>
            </a:r>
            <a:br/>
            <a:br/>
            <a:r>
              <a:t>EL ALAOUI Ahd Acharif</a:t>
            </a:r>
            <a:br/>
            <a:r>
              <a:t>Master MBDS – Universite Cote d'Azur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4A261"/>
                </a:solidFill>
              </a:defRPr>
            </a:pPr>
            <a:r>
              <a:rPr dirty="0"/>
              <a:t>Prototype </a:t>
            </a:r>
            <a:r>
              <a:rPr dirty="0" err="1"/>
              <a:t>universitaire</a:t>
            </a:r>
            <a:r>
              <a:rPr dirty="0"/>
              <a:t> – pas un </a:t>
            </a:r>
            <a:r>
              <a:rPr dirty="0" err="1"/>
              <a:t>outil</a:t>
            </a:r>
            <a:r>
              <a:rPr dirty="0"/>
              <a:t> de diagnostic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4A261"/>
                </a:solidFill>
              </a:defRPr>
            </a:pPr>
            <a:r>
              <a:t>1/19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  <a:latin typeface="Calibri"/>
              </a:defRPr>
            </a:pPr>
            <a:r>
              <a:t>Deep Bridge  |  EL ALAOUI Ahd Acharif  |  Master MBDS – UCA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5568"/>
                </a:solidFill>
              </a:defRPr>
            </a:pPr>
            <a:r>
              <a:t>2/19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942"/>
                </a:solidFill>
                <a:latin typeface="Calibri"/>
              </a:defRPr>
            </a:pPr>
            <a:r>
              <a:t>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77240"/>
            <a:ext cx="1234440" cy="5029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202C"/>
                </a:solidFill>
                <a:latin typeface="Calibri"/>
              </a:defRPr>
            </a:pPr>
            <a:r>
              <a:t>1. Contexte et objectifs</a:t>
            </a:r>
          </a:p>
          <a:p>
            <a:pPr>
              <a:spcAft>
                <a:spcPts val="800"/>
              </a:spcAft>
              <a:defRPr sz="2000">
                <a:solidFill>
                  <a:srgbClr val="1A202C"/>
                </a:solidFill>
                <a:latin typeface="Calibri"/>
              </a:defRPr>
            </a:pPr>
            <a:r>
              <a:t>2. Architecture, pipeline et diagramme de sequence</a:t>
            </a:r>
          </a:p>
          <a:p>
            <a:pPr>
              <a:spcAft>
                <a:spcPts val="800"/>
              </a:spcAft>
              <a:defRPr sz="2000">
                <a:solidFill>
                  <a:srgbClr val="1A202C"/>
                </a:solidFill>
                <a:latin typeface="Calibri"/>
              </a:defRPr>
            </a:pPr>
            <a:r>
              <a:t>3. DICOM, viewer, mesures NASCET / ECST</a:t>
            </a:r>
          </a:p>
          <a:p>
            <a:pPr>
              <a:spcAft>
                <a:spcPts val="800"/>
              </a:spcAft>
              <a:defRPr sz="2000">
                <a:solidFill>
                  <a:srgbClr val="1A202C"/>
                </a:solidFill>
                <a:latin typeface="Calibri"/>
              </a:defRPr>
            </a:pPr>
            <a:r>
              <a:t>4. Captures de l'application</a:t>
            </a:r>
          </a:p>
          <a:p>
            <a:pPr>
              <a:spcAft>
                <a:spcPts val="800"/>
              </a:spcAft>
              <a:defRPr sz="2000">
                <a:solidFill>
                  <a:srgbClr val="1A202C"/>
                </a:solidFill>
                <a:latin typeface="Calibri"/>
              </a:defRPr>
            </a:pPr>
            <a:r>
              <a:t>5. Risk CSV et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1A202C"/>
                </a:solidFill>
                <a:latin typeface="Calibri"/>
              </a:defRPr>
            </a:pPr>
            <a:r>
              <a:t>6. Bilan, perspectives, demonstration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  <a:latin typeface="Calibri"/>
              </a:defRPr>
            </a:pPr>
            <a:r>
              <a:t>Deep Bridge  |  EL ALAOUI Ahd Acharif  |  Master MBDS – UCA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5568"/>
                </a:solidFill>
              </a:defRPr>
            </a:pPr>
            <a:r>
              <a:t>3/19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942"/>
                </a:solidFill>
                <a:latin typeface="Calibri"/>
              </a:defRPr>
            </a:pPr>
            <a:r>
              <a:t>Contexte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77240"/>
            <a:ext cx="1234440" cy="5029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Stenose carotidienne = retrecissement des arteres carotides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NASCET / ECST : pourcentage a partir de diametres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Besoin : ouvrir un DICOM, visualiser, mesurer, calculer un %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Images patient absentes du depot public → mode DEMO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CSV clinique (651 patients) utilise pour le risque operatoire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Prototype pedagogique, pas un diagnostic clinique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  <a:latin typeface="Calibri"/>
              </a:defRPr>
            </a:pPr>
            <a:r>
              <a:t>Deep Bridge  |  EL ALAOUI Ahd Acharif  |  Master MBDS – UCA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5568"/>
                </a:solidFill>
              </a:defRPr>
            </a:pPr>
            <a:r>
              <a:t>4/19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942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77240"/>
            <a:ext cx="1234440" cy="5029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Charger / organiser des series DICOM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Viewer : navigation, contraste, zoom, pan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Mesures manuelles + calcul NASCET / ECST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Pipeline d'analyse (score / recommandation educative)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Risk Prediction (Random Forest sur CSV clinique)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Export de rapport (JSON, TXT, CSV, PDF)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  <a:latin typeface="Calibri"/>
              </a:defRPr>
            </a:pPr>
            <a:r>
              <a:t>Deep Bridge  |  EL ALAOUI Ahd Acharif  |  Master MBDS – UCA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5568"/>
                </a:solidFill>
              </a:defRPr>
            </a:pPr>
            <a:r>
              <a:t>5/19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942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77240"/>
            <a:ext cx="1234440" cy="5029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2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463040"/>
            <a:ext cx="9601200" cy="21688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5568"/>
                </a:solidFill>
                <a:latin typeface="Calibri"/>
              </a:defRPr>
            </a:pPr>
            <a:r>
              <a:t>Modules Python separes : UI, DICOM, imaging, carotid, ML, report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  <a:latin typeface="Calibri"/>
              </a:defRPr>
            </a:pPr>
            <a:r>
              <a:t>Deep Bridge  |  EL ALAOUI Ahd Acharif  |  Master MBDS – UCA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5568"/>
                </a:solidFill>
              </a:defRPr>
            </a:pPr>
            <a:r>
              <a:t>6/19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942"/>
                </a:solidFill>
                <a:latin typeface="Calibri"/>
              </a:defRPr>
            </a:pPr>
            <a:r>
              <a:t>Pipeline applicatif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77240"/>
            <a:ext cx="1234440" cy="5029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1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645920"/>
            <a:ext cx="10058400" cy="1802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5568"/>
                </a:solidFill>
                <a:latin typeface="Calibri"/>
              </a:defRPr>
            </a:pPr>
            <a:r>
              <a:t>Chaine image + volet clinique CSV vers l'export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  <a:latin typeface="Calibri"/>
              </a:defRPr>
            </a:pPr>
            <a:r>
              <a:t>Deep Bridge  |  EL ALAOUI Ahd Acharif  |  Master MBDS – UCA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5568"/>
                </a:solidFill>
              </a:defRPr>
            </a:pPr>
            <a:r>
              <a:t>7/19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942"/>
                </a:solidFill>
                <a:latin typeface="Calibri"/>
              </a:defRPr>
            </a:pPr>
            <a:r>
              <a:t>Diagramme de sequence – analyse typique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77240"/>
            <a:ext cx="1234440" cy="5029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8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158" y="518441"/>
            <a:ext cx="9976324" cy="61109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  <a:latin typeface="Calibri"/>
              </a:defRPr>
            </a:pPr>
            <a:r>
              <a:t>Deep Bridge  |  EL ALAOUI Ahd Acharif  |  Master MBDS – UCA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5568"/>
                </a:solidFill>
              </a:defRPr>
            </a:pPr>
            <a:r>
              <a:t>8/19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942"/>
                </a:solidFill>
                <a:latin typeface="Calibri"/>
              </a:defRPr>
            </a:pPr>
            <a:r>
              <a:t>Chargement DICOM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77240"/>
            <a:ext cx="1234440" cy="5029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3-dic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54480"/>
            <a:ext cx="9875520" cy="8907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1206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202C"/>
                </a:solidFill>
                <a:latin typeface="Calibri"/>
              </a:defRPr>
            </a:pPr>
            <a:r>
              <a:t>pydicom • groupement par serie • tri des slices • fichiers invalides ignores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  <a:latin typeface="Calibri"/>
              </a:defRPr>
            </a:pPr>
            <a:r>
              <a:t>Deep Bridge  |  EL ALAOUI Ahd Acharif  |  Master MBDS – UCA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5568"/>
                </a:solidFill>
              </a:defRPr>
            </a:pPr>
            <a:r>
              <a:t>9/19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942"/>
                </a:solidFill>
                <a:latin typeface="Calibri"/>
              </a:defRPr>
            </a:pPr>
            <a:r>
              <a:t>Pretraitement et viewer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77240"/>
            <a:ext cx="1234440" cy="5029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4-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645920"/>
            <a:ext cx="9601200" cy="10192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1206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202C"/>
                </a:solidFill>
                <a:latin typeface="Calibri"/>
              </a:defRPr>
            </a:pPr>
            <a:r>
              <a:t>Window Center / Width, zoom, pan, filtres optionnels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  <a:latin typeface="Calibri"/>
              </a:defRPr>
            </a:pPr>
            <a:r>
              <a:t>Deep Bridge  |  EL ALAOUI Ahd Acharif  |  Master MBDS – UCA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5568"/>
                </a:solidFill>
              </a:defRPr>
            </a:pPr>
            <a:r>
              <a:t>10/19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942"/>
                </a:solidFill>
                <a:latin typeface="Calibri"/>
              </a:defRPr>
            </a:pPr>
            <a:r>
              <a:t>Mesures et NASCET / ECST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77240"/>
            <a:ext cx="1234440" cy="5029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5-nasc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463040"/>
            <a:ext cx="9601200" cy="3175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9377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202C"/>
                </a:solidFill>
                <a:latin typeface="Calibri"/>
              </a:defRPr>
            </a:pPr>
            <a:r>
              <a:t>Exemple : Ds = 2 mm, Dref = 5 mm → 60 % NASCET</a:t>
            </a:r>
          </a:p>
          <a:p>
            <a:pPr>
              <a:spcAft>
                <a:spcPts val="800"/>
              </a:spcAft>
              <a:defRPr sz="1600">
                <a:solidFill>
                  <a:srgbClr val="1A202C"/>
                </a:solidFill>
                <a:latin typeface="Calibri"/>
              </a:defRPr>
            </a:pPr>
            <a:r>
              <a:t>Resultat indicatif, saisie utilisateur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  <a:latin typeface="Calibri"/>
              </a:defRPr>
            </a:pPr>
            <a:r>
              <a:t>Deep Bridge  |  EL ALAOUI Ahd Acharif  |  Master MBDS – UCA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5568"/>
                </a:solidFill>
              </a:defRPr>
            </a:pPr>
            <a:r>
              <a:t>11/19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942"/>
                </a:solidFill>
                <a:latin typeface="Calibri"/>
              </a:defRPr>
            </a:pPr>
            <a:r>
              <a:t>Capture – Mode DEMO / viewer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77240"/>
            <a:ext cx="1234440" cy="5029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1-demo-vie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51560"/>
            <a:ext cx="9875520" cy="52270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5568"/>
                </a:solidFill>
                <a:latin typeface="Calibri"/>
              </a:defRPr>
            </a:pPr>
            <a:r>
              <a:t>Serie synthetique (24 slices), banniere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  <a:latin typeface="Calibri"/>
              </a:defRPr>
            </a:pPr>
            <a:r>
              <a:t>Deep Bridge  |  EL ALAOUI Ahd Acharif  |  Master MBDS – UCA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5568"/>
                </a:solidFill>
              </a:defRPr>
            </a:pPr>
            <a:r>
              <a:t>12/19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942"/>
                </a:solidFill>
                <a:latin typeface="Calibri"/>
              </a:defRPr>
            </a:pPr>
            <a:r>
              <a:t>Capture – Mesures et NASCET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77240"/>
            <a:ext cx="1234440" cy="5029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2-mesures-nasc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51560"/>
            <a:ext cx="9875520" cy="52174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5568"/>
                </a:solidFill>
                <a:latin typeface="Calibri"/>
              </a:defRPr>
            </a:pPr>
            <a:r>
              <a:t>Calcul NASCET a partir des diametres saisis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  <a:latin typeface="Calibri"/>
              </a:defRPr>
            </a:pPr>
            <a:r>
              <a:t>Deep Bridge  |  EL ALAOUI Ahd Acharif  |  Master MBDS – UCA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5568"/>
                </a:solidFill>
              </a:defRPr>
            </a:pPr>
            <a:r>
              <a:t>13/19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942"/>
                </a:solidFill>
                <a:latin typeface="Calibri"/>
              </a:defRPr>
            </a:pPr>
            <a:r>
              <a:t>Capture – Pipeline d'analyse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77240"/>
            <a:ext cx="1234440" cy="5029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3-pipeline-au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51560"/>
            <a:ext cx="9875520" cy="52270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5568"/>
                </a:solidFill>
                <a:latin typeface="Calibri"/>
              </a:defRPr>
            </a:pPr>
            <a:r>
              <a:t>Analyse auto + ROI + sortie pedagogique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  <a:latin typeface="Calibri"/>
              </a:defRPr>
            </a:pPr>
            <a:r>
              <a:t>Deep Bridge  |  EL ALAOUI Ahd Acharif  |  Master MBDS – UCA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5568"/>
                </a:solidFill>
              </a:defRPr>
            </a:pPr>
            <a:r>
              <a:t>14/19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942"/>
                </a:solidFill>
                <a:latin typeface="Calibri"/>
              </a:defRPr>
            </a:pPr>
            <a:r>
              <a:t>Capture – Risk CSV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77240"/>
            <a:ext cx="1234440" cy="5029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4-risk-cs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51560"/>
            <a:ext cx="9875520" cy="57189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5568"/>
                </a:solidFill>
                <a:latin typeface="Calibri"/>
              </a:defRPr>
            </a:pPr>
            <a:r>
              <a:t>Prediction Random Forest (651 patients)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  <a:latin typeface="Calibri"/>
              </a:defRPr>
            </a:pPr>
            <a:r>
              <a:t>Deep Bridge  |  EL ALAOUI Ahd Acharif  |  Master MBDS – UCA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5568"/>
                </a:solidFill>
              </a:defRPr>
            </a:pPr>
            <a:r>
              <a:t>15/19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942"/>
                </a:solidFill>
                <a:latin typeface="Calibri"/>
              </a:defRPr>
            </a:pPr>
            <a:r>
              <a:t>Capture – Export rapport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77240"/>
            <a:ext cx="1234440" cy="5029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5-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51560"/>
            <a:ext cx="9875520" cy="57671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436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A5568"/>
                </a:solidFill>
                <a:latin typeface="Calibri"/>
              </a:defRPr>
            </a:pPr>
            <a:r>
              <a:t>JSON / TXT / CSV / PDF dans exports/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  <a:latin typeface="Calibri"/>
              </a:defRPr>
            </a:pPr>
            <a:r>
              <a:t>Deep Bridge  |  EL ALAOUI Ahd Acharif  |  Master MBDS – UCA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5568"/>
                </a:solidFill>
              </a:defRPr>
            </a:pPr>
            <a:r>
              <a:t>16/19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942"/>
                </a:solidFill>
                <a:latin typeface="Calibri"/>
              </a:defRPr>
            </a:pPr>
            <a:r>
              <a:t>Risk Prediction (CSV clinique)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77240"/>
            <a:ext cx="1234440" cy="5029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6-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54480"/>
            <a:ext cx="9875520" cy="8428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9377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202C"/>
                </a:solidFill>
                <a:latin typeface="Calibri"/>
              </a:defRPr>
            </a:pPr>
            <a:r>
              <a:t>Dataset groupe precedent (MBDS) – cible : complication</a:t>
            </a:r>
          </a:p>
          <a:p>
            <a:pPr>
              <a:spcAft>
                <a:spcPts val="800"/>
              </a:spcAft>
              <a:defRPr sz="1500">
                <a:solidFill>
                  <a:srgbClr val="1A202C"/>
                </a:solidFill>
                <a:latin typeface="Calibri"/>
              </a:defRPr>
            </a:pPr>
            <a:r>
              <a:t>Prediction pedagogique / recherche, pas une decision clinique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  <a:latin typeface="Calibri"/>
              </a:defRPr>
            </a:pPr>
            <a:r>
              <a:t>Deep Bridge  |  EL ALAOUI Ahd Acharif  |  Master MBDS – UCA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5568"/>
                </a:solidFill>
              </a:defRPr>
            </a:pPr>
            <a:r>
              <a:t>17/19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942"/>
                </a:solidFill>
                <a:latin typeface="Calibri"/>
              </a:defRPr>
            </a:pPr>
            <a:r>
              <a:t>Machine learning et perspectives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77240"/>
            <a:ext cx="1234440" cy="5029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07-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554480"/>
            <a:ext cx="9875520" cy="11014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9377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202C"/>
                </a:solidFill>
                <a:latin typeface="Calibri"/>
              </a:defRPr>
            </a:pPr>
            <a:r>
              <a:t>Deja demontre : Risk CSV (Random Forest)</a:t>
            </a:r>
          </a:p>
          <a:p>
            <a:pPr>
              <a:spcAft>
                <a:spcPts val="800"/>
              </a:spcAft>
              <a:defRPr sz="1500">
                <a:solidFill>
                  <a:srgbClr val="1A202C"/>
                </a:solidFill>
                <a:latin typeface="Calibri"/>
              </a:defRPr>
            </a:pPr>
            <a:r>
              <a:t>A venir avec dataset images univ. : detection / segmentation supervisee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  <a:latin typeface="Calibri"/>
              </a:defRPr>
            </a:pPr>
            <a:r>
              <a:t>Deep Bridge  |  EL ALAOUI Ahd Acharif  |  Master MBDS – UCA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5568"/>
                </a:solidFill>
              </a:defRPr>
            </a:pPr>
            <a:r>
              <a:t>18/19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942"/>
                </a:solidFill>
                <a:latin typeface="Calibri"/>
              </a:defRPr>
            </a:pPr>
            <a:r>
              <a:t>Stack et demo 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77240"/>
            <a:ext cx="1234440" cy="5029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Python, PySide6, pydicom, NumPy, OpenCV, scikit-learn, pytest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Lancement : python -m app.main   ou   LANCER_DEEP_BRIDGE.bat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Parcours de demo :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1) Demo  →  2) navigation / WC-WW  →  3) Mesures / NASCET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t>4) Pipeline  →  5) Risk CSV  →  6) Export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2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A5568"/>
                </a:solidFill>
                <a:latin typeface="Calibri"/>
              </a:defRPr>
            </a:pPr>
            <a:r>
              <a:t>Deep Bridge  |  EL ALAOUI Ahd Acharif  |  Master MBDS – UCA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4A5568"/>
                </a:solidFill>
              </a:defRPr>
            </a:pPr>
            <a:r>
              <a:t>19/19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942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777240"/>
            <a:ext cx="1234440" cy="50292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rPr dirty="0"/>
              <a:t>Chaine couverte : DICOM → viewer → </a:t>
            </a:r>
            <a:r>
              <a:rPr dirty="0" err="1"/>
              <a:t>mesures</a:t>
            </a:r>
            <a:r>
              <a:rPr dirty="0"/>
              <a:t> → % → pipeline → export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rPr dirty="0"/>
              <a:t>Volet </a:t>
            </a:r>
            <a:r>
              <a:rPr dirty="0" err="1"/>
              <a:t>clinique</a:t>
            </a:r>
            <a:r>
              <a:rPr dirty="0"/>
              <a:t> : </a:t>
            </a:r>
            <a:r>
              <a:rPr dirty="0" err="1"/>
              <a:t>risque</a:t>
            </a:r>
            <a:r>
              <a:rPr dirty="0"/>
              <a:t> </a:t>
            </a:r>
            <a:r>
              <a:rPr dirty="0" err="1"/>
              <a:t>operatoire</a:t>
            </a:r>
            <a:r>
              <a:rPr dirty="0"/>
              <a:t> sur CSV (651 patients)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rPr dirty="0" err="1"/>
              <a:t>Limite</a:t>
            </a:r>
            <a:r>
              <a:rPr dirty="0"/>
              <a:t> : pas </a:t>
            </a:r>
            <a:r>
              <a:rPr dirty="0" err="1"/>
              <a:t>d'automatisation</a:t>
            </a:r>
            <a:r>
              <a:rPr dirty="0"/>
              <a:t> </a:t>
            </a:r>
            <a:r>
              <a:rPr dirty="0" err="1"/>
              <a:t>fiable</a:t>
            </a:r>
            <a:r>
              <a:rPr dirty="0"/>
              <a:t> sur images patient </a:t>
            </a:r>
            <a:r>
              <a:rPr dirty="0" err="1"/>
              <a:t>reelles</a:t>
            </a: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rPr dirty="0"/>
              <a:t>Prochain </a:t>
            </a:r>
            <a:r>
              <a:rPr dirty="0" err="1"/>
              <a:t>jalon</a:t>
            </a:r>
            <a:r>
              <a:rPr dirty="0"/>
              <a:t> : dataset </a:t>
            </a:r>
            <a:r>
              <a:rPr dirty="0" err="1"/>
              <a:t>universitaire</a:t>
            </a:r>
            <a:r>
              <a:rPr dirty="0"/>
              <a:t> </a:t>
            </a:r>
            <a:r>
              <a:rPr dirty="0" err="1"/>
              <a:t>annoté</a:t>
            </a:r>
            <a:r>
              <a:rPr dirty="0"/>
              <a:t> + IA image</a:t>
            </a:r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endParaRPr dirty="0"/>
          </a:p>
          <a:p>
            <a:pPr>
              <a:spcAft>
                <a:spcPts val="800"/>
              </a:spcAft>
              <a:defRPr sz="1700">
                <a:solidFill>
                  <a:srgbClr val="1A202C"/>
                </a:solidFill>
                <a:latin typeface="Calibri"/>
              </a:defRPr>
            </a:pPr>
            <a:r>
              <a:rPr dirty="0"/>
              <a:t>Merci –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729</Words>
  <Application>Microsoft Office PowerPoint</Application>
  <PresentationFormat>Grand écran</PresentationFormat>
  <Paragraphs>103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Ahd Acharif EL ALAOUI</cp:lastModifiedBy>
  <cp:revision>3</cp:revision>
  <dcterms:created xsi:type="dcterms:W3CDTF">2013-01-27T09:14:16Z</dcterms:created>
  <dcterms:modified xsi:type="dcterms:W3CDTF">2026-09-07T12:27:43Z</dcterms:modified>
  <cp:category/>
</cp:coreProperties>
</file>